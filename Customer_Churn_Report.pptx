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09548"/>
            <a:ext cx="7772400" cy="1470025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Customer Churn Analysis for Telecom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7535" y="3610896"/>
            <a:ext cx="6400800" cy="1752600"/>
          </a:xfrm>
        </p:spPr>
        <p:txBody>
          <a:bodyPr>
            <a:noAutofit/>
          </a:bodyPr>
          <a:lstStyle/>
          <a:p>
            <a:pPr algn="l"/>
            <a:r>
              <a:rPr sz="2400" dirty="0">
                <a:solidFill>
                  <a:schemeClr val="tx2"/>
                </a:solidFill>
              </a:rPr>
              <a:t>Prepared By: </a:t>
            </a:r>
            <a:r>
              <a:rPr sz="2400" dirty="0" err="1">
                <a:solidFill>
                  <a:schemeClr val="tx2"/>
                </a:solidFill>
              </a:rPr>
              <a:t>Devaguptapu</a:t>
            </a:r>
            <a:r>
              <a:rPr sz="2400" dirty="0">
                <a:solidFill>
                  <a:schemeClr val="tx2"/>
                </a:solidFill>
              </a:rPr>
              <a:t> Jaya Sri</a:t>
            </a:r>
          </a:p>
          <a:p>
            <a:pPr algn="l"/>
            <a:r>
              <a:rPr sz="2400" dirty="0">
                <a:solidFill>
                  <a:schemeClr val="tx2"/>
                </a:solidFill>
              </a:rPr>
              <a:t>Tools: SQL, Python, Scikit-Learn, SHAP, </a:t>
            </a:r>
            <a:r>
              <a:rPr sz="2400" dirty="0" err="1">
                <a:solidFill>
                  <a:schemeClr val="tx2"/>
                </a:solidFill>
              </a:rPr>
              <a:t>Jupyter</a:t>
            </a:r>
            <a:r>
              <a:rPr sz="2400" dirty="0">
                <a:solidFill>
                  <a:schemeClr val="tx2"/>
                </a:solidFill>
              </a:rPr>
              <a:t> Notebook</a:t>
            </a:r>
          </a:p>
          <a:p>
            <a:pPr algn="l"/>
            <a:r>
              <a:rPr sz="2400" dirty="0">
                <a:solidFill>
                  <a:schemeClr val="tx2"/>
                </a:solidFill>
              </a:rPr>
              <a:t>Objective: Predict customer churn and identify retention factors.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Customer churn refers to customers who stop using a company's services.</a:t>
            </a:r>
          </a:p>
          <a:p>
            <a:r>
              <a:rPr sz="2400" dirty="0"/>
              <a:t>Goals: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sz="2400" dirty="0"/>
              <a:t>• Predict churn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sz="2400" dirty="0"/>
              <a:t>• Identify churn factors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sz="2400" dirty="0"/>
              <a:t>• Create customer segments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sz="2400" dirty="0"/>
              <a:t>• Recommend retention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Dataset: Telco Customer Churn Dataset</a:t>
            </a:r>
          </a:p>
          <a:p>
            <a:r>
              <a:rPr sz="2400" dirty="0"/>
              <a:t>Target Variable: Churn (Yes/No)</a:t>
            </a:r>
          </a:p>
          <a:p>
            <a:r>
              <a:rPr sz="2400" dirty="0"/>
              <a:t>Total Records: ~703</a:t>
            </a:r>
            <a:r>
              <a:rPr lang="en-IN" sz="2400" dirty="0"/>
              <a:t>2</a:t>
            </a:r>
            <a:r>
              <a:rPr sz="2400" dirty="0"/>
              <a:t> customers</a:t>
            </a:r>
          </a:p>
          <a:p>
            <a:r>
              <a:rPr sz="2400" dirty="0"/>
              <a:t>Features: Gender, Tenure, Charges, Contract Type, Internet Service, Payment Method,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Python</a:t>
            </a:r>
            <a:r>
              <a:rPr lang="en-IN" sz="2400" dirty="0"/>
              <a:t>,</a:t>
            </a:r>
            <a:r>
              <a:rPr sz="2400" dirty="0"/>
              <a:t>Pandas</a:t>
            </a:r>
            <a:endParaRPr lang="en-IN" sz="2400" dirty="0"/>
          </a:p>
          <a:p>
            <a:r>
              <a:rPr sz="2400" dirty="0"/>
              <a:t> NumPy, Matplotlib</a:t>
            </a:r>
            <a:endParaRPr lang="en-IN" sz="2400" dirty="0"/>
          </a:p>
          <a:p>
            <a:r>
              <a:rPr sz="2400" dirty="0"/>
              <a:t> Seaborn, Scikit-Learn</a:t>
            </a:r>
            <a:endParaRPr lang="en-IN" sz="2400" dirty="0"/>
          </a:p>
          <a:p>
            <a:r>
              <a:rPr sz="2400" dirty="0"/>
              <a:t> SHAP</a:t>
            </a:r>
            <a:endParaRPr lang="en-IN" sz="2400" dirty="0"/>
          </a:p>
          <a:p>
            <a:r>
              <a:rPr sz="2400" dirty="0"/>
              <a:t> SQL</a:t>
            </a:r>
            <a:endParaRPr lang="en-IN" sz="2400" dirty="0"/>
          </a:p>
          <a:p>
            <a:r>
              <a:rPr sz="2400" dirty="0" err="1"/>
              <a:t>Jupyter</a:t>
            </a:r>
            <a:r>
              <a:rPr sz="2400" dirty="0"/>
              <a:t>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1. Data Collection</a:t>
            </a:r>
          </a:p>
          <a:p>
            <a:pPr marL="0" indent="0">
              <a:buNone/>
            </a:pPr>
            <a:r>
              <a:rPr sz="2400" dirty="0"/>
              <a:t>2. Data Cleaning</a:t>
            </a:r>
          </a:p>
          <a:p>
            <a:pPr marL="0" indent="0">
              <a:buNone/>
            </a:pPr>
            <a:r>
              <a:rPr sz="2400" dirty="0"/>
              <a:t>3. EDA</a:t>
            </a:r>
          </a:p>
          <a:p>
            <a:pPr marL="0" indent="0">
              <a:buNone/>
            </a:pPr>
            <a:r>
              <a:rPr sz="2400" dirty="0"/>
              <a:t>4. Feature Engineering</a:t>
            </a:r>
          </a:p>
          <a:p>
            <a:pPr marL="0" indent="0">
              <a:buNone/>
            </a:pPr>
            <a:r>
              <a:rPr sz="2400" dirty="0"/>
              <a:t>5. Model Building</a:t>
            </a:r>
            <a:endParaRPr lang="en-IN" sz="2400" dirty="0"/>
          </a:p>
          <a:p>
            <a:pPr marL="0" indent="0">
              <a:buNone/>
            </a:pPr>
            <a:r>
              <a:rPr sz="2400" dirty="0"/>
              <a:t>6. Evaluation</a:t>
            </a:r>
          </a:p>
          <a:p>
            <a:pPr marL="0" indent="0">
              <a:buNone/>
            </a:pPr>
            <a:r>
              <a:rPr sz="2400" dirty="0"/>
              <a:t>7. Customer Segmentation</a:t>
            </a:r>
          </a:p>
          <a:p>
            <a:pPr marL="0" indent="0">
              <a:buNone/>
            </a:pPr>
            <a:r>
              <a:rPr sz="2400" dirty="0"/>
              <a:t>8.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Data Analysis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2400" dirty="0"/>
              <a:t>Month-to-month contracts have higher churn</a:t>
            </a:r>
          </a:p>
          <a:p>
            <a:pPr marL="0" indent="0">
              <a:buNone/>
            </a:pPr>
            <a:r>
              <a:rPr sz="2400" dirty="0"/>
              <a:t>• High monthly charges increase churn</a:t>
            </a:r>
          </a:p>
          <a:p>
            <a:pPr marL="0" indent="0">
              <a:buNone/>
            </a:pPr>
            <a:r>
              <a:rPr sz="2400" dirty="0"/>
              <a:t>• Short-tenure customers churn more</a:t>
            </a:r>
          </a:p>
          <a:p>
            <a:pPr marL="0" indent="0">
              <a:buNone/>
            </a:pPr>
            <a:r>
              <a:rPr sz="2400" dirty="0"/>
              <a:t>• Long-term customers are more loyal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Model: Logistic Regression</a:t>
            </a:r>
          </a:p>
          <a:p>
            <a:r>
              <a:rPr sz="2400" dirty="0"/>
              <a:t>Evaluate using Accuracy, Precision, Recall, F1 Score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26A84-8552-4F2D-2128-B0980F00A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8" y="2600377"/>
            <a:ext cx="7708490" cy="37083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Loyal: &lt;20% churn probability</a:t>
            </a:r>
          </a:p>
          <a:p>
            <a:r>
              <a:rPr sz="2400" dirty="0"/>
              <a:t>At Risk: 20%-60%</a:t>
            </a:r>
          </a:p>
          <a:p>
            <a:r>
              <a:rPr sz="2400" dirty="0"/>
              <a:t>Dormant: &gt;60%</a:t>
            </a:r>
          </a:p>
          <a:p>
            <a:pPr marL="0" indent="0">
              <a:buNone/>
            </a:pP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2E5C4-0031-54B6-7910-2392D65CE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2928579"/>
            <a:ext cx="7767484" cy="33801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Final</a:t>
            </a:r>
            <a:r>
              <a:rPr u="sng" dirty="0"/>
              <a:t>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sz="2900" b="1" dirty="0"/>
              <a:t>  Promote Long-Term Contracts</a:t>
            </a:r>
            <a:r>
              <a:rPr lang="en-IN" sz="2900" dirty="0"/>
              <a:t> </a:t>
            </a:r>
          </a:p>
          <a:p>
            <a:pPr lvl="1"/>
            <a:r>
              <a:rPr lang="en-IN" sz="2900" dirty="0"/>
              <a:t>Offer discounts and benefits for 1-year and 2-year contracts. </a:t>
            </a:r>
          </a:p>
          <a:p>
            <a:pPr lvl="1"/>
            <a:r>
              <a:rPr lang="en-IN" sz="2900" dirty="0"/>
              <a:t>Reduce dependency on month-to-month subscriptions, which show higher churn rates. </a:t>
            </a:r>
          </a:p>
          <a:p>
            <a:r>
              <a:rPr lang="en-IN" sz="2900" b="1" dirty="0"/>
              <a:t>Retain High-Risk Customers</a:t>
            </a:r>
            <a:r>
              <a:rPr lang="en-IN" sz="2900" dirty="0"/>
              <a:t> </a:t>
            </a:r>
          </a:p>
          <a:p>
            <a:pPr lvl="1"/>
            <a:r>
              <a:rPr lang="en-IN" sz="2900" dirty="0"/>
              <a:t>Identify customers with high churn probability. </a:t>
            </a:r>
          </a:p>
          <a:p>
            <a:pPr lvl="1"/>
            <a:r>
              <a:rPr lang="en-IN" sz="2900" dirty="0"/>
              <a:t>Provide personalized offers, discounts, and retention campaigns. </a:t>
            </a:r>
          </a:p>
          <a:p>
            <a:r>
              <a:rPr lang="en-IN" sz="2900" b="1" dirty="0"/>
              <a:t>Improve Customer Support</a:t>
            </a:r>
            <a:r>
              <a:rPr lang="en-IN" sz="2900" dirty="0"/>
              <a:t> </a:t>
            </a:r>
          </a:p>
          <a:p>
            <a:pPr lvl="1"/>
            <a:r>
              <a:rPr lang="en-IN" sz="2900" dirty="0"/>
              <a:t>Resolve customer complaints quickly. </a:t>
            </a:r>
          </a:p>
          <a:p>
            <a:pPr lvl="1"/>
            <a:r>
              <a:rPr lang="en-IN" sz="2900" dirty="0"/>
              <a:t>Increase customer satisfaction through better service quality. </a:t>
            </a:r>
          </a:p>
          <a:p>
            <a:r>
              <a:rPr lang="en-IN" sz="2900" b="1" dirty="0"/>
              <a:t>Implement Loyalty Programs</a:t>
            </a:r>
            <a:r>
              <a:rPr lang="en-IN" sz="2900" dirty="0"/>
              <a:t> </a:t>
            </a:r>
          </a:p>
          <a:p>
            <a:pPr lvl="1"/>
            <a:r>
              <a:rPr lang="en-IN" sz="2900" dirty="0"/>
              <a:t>Reward long-term customers with exclusive benefits. </a:t>
            </a:r>
          </a:p>
          <a:p>
            <a:pPr lvl="1"/>
            <a:r>
              <a:rPr lang="en-IN" sz="2900" dirty="0"/>
              <a:t>Encourage continued usage through loyalty points and special offers. </a:t>
            </a:r>
          </a:p>
          <a:p>
            <a:r>
              <a:rPr lang="en-IN" sz="2900" b="1" dirty="0"/>
              <a:t>Focus on New Customers</a:t>
            </a:r>
            <a:r>
              <a:rPr lang="en-IN" sz="2900" dirty="0"/>
              <a:t> </a:t>
            </a:r>
          </a:p>
          <a:p>
            <a:pPr lvl="1"/>
            <a:r>
              <a:rPr lang="en-IN" sz="2900" dirty="0"/>
              <a:t>Provide onboarding support during the first few months. </a:t>
            </a:r>
          </a:p>
          <a:p>
            <a:pPr lvl="1"/>
            <a:r>
              <a:rPr lang="en-IN" sz="2900" dirty="0"/>
              <a:t>Engage customers early to improve retention. </a:t>
            </a:r>
          </a:p>
          <a:p>
            <a:r>
              <a:rPr lang="en-IN" sz="2900" b="1" dirty="0"/>
              <a:t>Optimize Pricing Strategies</a:t>
            </a:r>
            <a:r>
              <a:rPr lang="en-IN" sz="2900" dirty="0"/>
              <a:t> </a:t>
            </a:r>
          </a:p>
          <a:p>
            <a:pPr lvl="1"/>
            <a:r>
              <a:rPr lang="en-IN" sz="2900" dirty="0"/>
              <a:t>Review plans with high monthly charges. </a:t>
            </a:r>
          </a:p>
          <a:p>
            <a:pPr lvl="1"/>
            <a:r>
              <a:rPr lang="en-IN" sz="2900" dirty="0"/>
              <a:t>Introduce flexible and affordable pricing options.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Successfully analyzed churn, built a prediction model, segmented customers, and generated recommendations.</a:t>
            </a:r>
          </a:p>
          <a:p>
            <a:r>
              <a:rPr sz="2400" dirty="0"/>
              <a:t>Future Scope: Random Forest, </a:t>
            </a:r>
            <a:r>
              <a:rPr sz="2400" dirty="0" err="1"/>
              <a:t>XGBoost</a:t>
            </a:r>
            <a:r>
              <a:rPr sz="2400" dirty="0"/>
              <a:t>, Power BI Dashboard</a:t>
            </a:r>
            <a:r>
              <a:rPr lang="en-IN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377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Calibri</vt:lpstr>
      <vt:lpstr>Office Theme</vt:lpstr>
      <vt:lpstr>Customer Churn Analysis for Telecom Industry</vt:lpstr>
      <vt:lpstr>Project Overview</vt:lpstr>
      <vt:lpstr>Dataset Description</vt:lpstr>
      <vt:lpstr>Tools &amp; Technologies</vt:lpstr>
      <vt:lpstr>Project Workflow</vt:lpstr>
      <vt:lpstr>Data Analysis Findings</vt:lpstr>
      <vt:lpstr>Machine Learning Model</vt:lpstr>
      <vt:lpstr>Customer Segmentation</vt:lpstr>
      <vt:lpstr>Final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Bhoomika Devagupthapu</dc:creator>
  <cp:keywords/>
  <dc:description>generated using python-pptx</dc:description>
  <cp:lastModifiedBy>Bhoomika Devagupthapu</cp:lastModifiedBy>
  <cp:revision>3</cp:revision>
  <dcterms:created xsi:type="dcterms:W3CDTF">2013-01-27T09:14:16Z</dcterms:created>
  <dcterms:modified xsi:type="dcterms:W3CDTF">2026-06-13T13:06:07Z</dcterms:modified>
  <cp:category/>
</cp:coreProperties>
</file>